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9" r:id="rId1"/>
  </p:sldMasterIdLst>
  <p:notesMasterIdLst>
    <p:notesMasterId r:id="rId13"/>
  </p:notesMasterIdLst>
  <p:sldIdLst>
    <p:sldId id="256" r:id="rId2"/>
    <p:sldId id="257" r:id="rId3"/>
    <p:sldId id="258" r:id="rId4"/>
    <p:sldId id="259" r:id="rId5"/>
    <p:sldId id="260" r:id="rId6"/>
    <p:sldId id="262" r:id="rId7"/>
    <p:sldId id="261" r:id="rId8"/>
    <p:sldId id="263" r:id="rId9"/>
    <p:sldId id="264" r:id="rId10"/>
    <p:sldId id="265"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5" d="100"/>
          <a:sy n="75" d="100"/>
        </p:scale>
        <p:origin x="1950" y="7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B6AB95-880C-4A12-87EB-C79F862480B8}" type="datetimeFigureOut">
              <a:rPr lang="en-ZA" smtClean="0"/>
              <a:t>2025/11/21</a:t>
            </a:fld>
            <a:endParaRPr lang="en-Z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E196CE-DB1A-4559-9C09-776F974DD2A4}" type="slidenum">
              <a:rPr lang="en-ZA" smtClean="0"/>
              <a:t>‹#›</a:t>
            </a:fld>
            <a:endParaRPr lang="en-ZA"/>
          </a:p>
        </p:txBody>
      </p:sp>
    </p:spTree>
    <p:extLst>
      <p:ext uri="{BB962C8B-B14F-4D97-AF65-F5344CB8AC3E}">
        <p14:creationId xmlns:p14="http://schemas.microsoft.com/office/powerpoint/2010/main" val="11582822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5AE196CE-DB1A-4559-9C09-776F974DD2A4}" type="slidenum">
              <a:rPr lang="en-ZA" smtClean="0"/>
              <a:t>1</a:t>
            </a:fld>
            <a:endParaRPr lang="en-ZA"/>
          </a:p>
        </p:txBody>
      </p:sp>
    </p:spTree>
    <p:extLst>
      <p:ext uri="{BB962C8B-B14F-4D97-AF65-F5344CB8AC3E}">
        <p14:creationId xmlns:p14="http://schemas.microsoft.com/office/powerpoint/2010/main" val="41459258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11/21/2025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603341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11/21/2025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08931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11/21/2025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17474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11/21/2025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435110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11/21/2025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31344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11/21/2025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8035271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11/21/2025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3332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11/21/2025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74992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11/21/2025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88831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11/21/2025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445113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11/21/2025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61743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11/21/2025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01381669"/>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2" r:id="rId6"/>
    <p:sldLayoutId id="2147483688" r:id="rId7"/>
    <p:sldLayoutId id="2147483689" r:id="rId8"/>
    <p:sldLayoutId id="2147483690" r:id="rId9"/>
    <p:sldLayoutId id="2147483691" r:id="rId10"/>
    <p:sldLayoutId id="2147483693"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AA064F-C5AE-F6AC-8EED-F3F8F8F9F065}"/>
              </a:ext>
            </a:extLst>
          </p:cNvPr>
          <p:cNvSpPr>
            <a:spLocks noGrp="1"/>
          </p:cNvSpPr>
          <p:nvPr>
            <p:ph type="ctrTitle"/>
          </p:nvPr>
        </p:nvSpPr>
        <p:spPr>
          <a:xfrm>
            <a:off x="703400" y="908650"/>
            <a:ext cx="4937004" cy="2240947"/>
          </a:xfrm>
        </p:spPr>
        <p:txBody>
          <a:bodyPr anchor="t">
            <a:normAutofit fontScale="90000"/>
          </a:bodyPr>
          <a:lstStyle/>
          <a:p>
            <a:r>
              <a:rPr lang="en-US" sz="5500" dirty="0"/>
              <a:t>Cloud Development POE</a:t>
            </a:r>
            <a:br>
              <a:rPr lang="en-US" sz="5500" dirty="0"/>
            </a:br>
            <a:endParaRPr lang="en-ZA" sz="5500" dirty="0"/>
          </a:p>
        </p:txBody>
      </p:sp>
      <p:sp>
        <p:nvSpPr>
          <p:cNvPr id="3" name="Subtitle 2">
            <a:extLst>
              <a:ext uri="{FF2B5EF4-FFF2-40B4-BE49-F238E27FC236}">
                <a16:creationId xmlns:a16="http://schemas.microsoft.com/office/drawing/2014/main" id="{C29BD04E-99FD-B0F3-FC44-D9FDE415D117}"/>
              </a:ext>
            </a:extLst>
          </p:cNvPr>
          <p:cNvSpPr>
            <a:spLocks noGrp="1"/>
          </p:cNvSpPr>
          <p:nvPr>
            <p:ph type="subTitle" idx="1"/>
          </p:nvPr>
        </p:nvSpPr>
        <p:spPr>
          <a:xfrm>
            <a:off x="703400" y="5103862"/>
            <a:ext cx="4172757" cy="845487"/>
          </a:xfrm>
        </p:spPr>
        <p:txBody>
          <a:bodyPr anchor="b">
            <a:normAutofit/>
          </a:bodyPr>
          <a:lstStyle/>
          <a:p>
            <a:pPr>
              <a:lnSpc>
                <a:spcPct val="100000"/>
              </a:lnSpc>
            </a:pPr>
            <a:r>
              <a:rPr lang="en-US" dirty="0"/>
              <a:t>Rocston John Oppelt</a:t>
            </a:r>
          </a:p>
          <a:p>
            <a:pPr>
              <a:lnSpc>
                <a:spcPct val="100000"/>
              </a:lnSpc>
            </a:pPr>
            <a:r>
              <a:rPr lang="en-US" dirty="0"/>
              <a:t>ST10276665</a:t>
            </a:r>
          </a:p>
        </p:txBody>
      </p:sp>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215CB1D-B17B-39A6-80DF-59D3C111A45A}"/>
              </a:ext>
            </a:extLst>
          </p:cNvPr>
          <p:cNvPicPr>
            <a:picLocks noChangeAspect="1"/>
          </p:cNvPicPr>
          <p:nvPr/>
        </p:nvPicPr>
        <p:blipFill>
          <a:blip r:embed="rId3"/>
          <a:srcRect l="25160" r="17747" b="-1"/>
          <a:stretch>
            <a:fillRect/>
          </a:stretch>
        </p:blipFill>
        <p:spPr>
          <a:xfrm>
            <a:off x="6326272" y="10"/>
            <a:ext cx="5865727" cy="6857990"/>
          </a:xfrm>
          <a:prstGeom prst="rect">
            <a:avLst/>
          </a:prstGeom>
        </p:spPr>
      </p:pic>
      <p:sp>
        <p:nvSpPr>
          <p:cNvPr id="5" name="TextBox 4">
            <a:extLst>
              <a:ext uri="{FF2B5EF4-FFF2-40B4-BE49-F238E27FC236}">
                <a16:creationId xmlns:a16="http://schemas.microsoft.com/office/drawing/2014/main" id="{06B60456-F6B5-6284-9E4B-486926DA9815}"/>
              </a:ext>
            </a:extLst>
          </p:cNvPr>
          <p:cNvSpPr txBox="1"/>
          <p:nvPr/>
        </p:nvSpPr>
        <p:spPr>
          <a:xfrm>
            <a:off x="703400" y="3480398"/>
            <a:ext cx="4711700" cy="646331"/>
          </a:xfrm>
          <a:prstGeom prst="rect">
            <a:avLst/>
          </a:prstGeom>
          <a:noFill/>
        </p:spPr>
        <p:txBody>
          <a:bodyPr wrap="square" rtlCol="0">
            <a:spAutoFit/>
          </a:bodyPr>
          <a:lstStyle/>
          <a:p>
            <a:r>
              <a:rPr lang="en-US" dirty="0"/>
              <a:t>Video Demonstration:</a:t>
            </a:r>
            <a:br>
              <a:rPr lang="en-US" dirty="0"/>
            </a:br>
            <a:r>
              <a:rPr lang="en-US" dirty="0"/>
              <a:t>https://youtu.be/aWqusqzMH18</a:t>
            </a:r>
            <a:endParaRPr lang="en-ZA" dirty="0"/>
          </a:p>
        </p:txBody>
      </p:sp>
    </p:spTree>
    <p:extLst>
      <p:ext uri="{BB962C8B-B14F-4D97-AF65-F5344CB8AC3E}">
        <p14:creationId xmlns:p14="http://schemas.microsoft.com/office/powerpoint/2010/main" val="3797355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0C972-397B-17DD-24F3-EF142E467E2D}"/>
              </a:ext>
            </a:extLst>
          </p:cNvPr>
          <p:cNvSpPr>
            <a:spLocks noGrp="1"/>
          </p:cNvSpPr>
          <p:nvPr>
            <p:ph type="title"/>
          </p:nvPr>
        </p:nvSpPr>
        <p:spPr/>
        <p:txBody>
          <a:bodyPr/>
          <a:lstStyle/>
          <a:p>
            <a:r>
              <a:rPr lang="en-US" dirty="0"/>
              <a:t>The landing page</a:t>
            </a:r>
            <a:endParaRPr lang="en-ZA" dirty="0"/>
          </a:p>
        </p:txBody>
      </p:sp>
      <p:pic>
        <p:nvPicPr>
          <p:cNvPr id="6" name="Picture Placeholder 5">
            <a:extLst>
              <a:ext uri="{FF2B5EF4-FFF2-40B4-BE49-F238E27FC236}">
                <a16:creationId xmlns:a16="http://schemas.microsoft.com/office/drawing/2014/main" id="{451F7A07-1AFF-19A2-90EB-738A2E4856B7}"/>
              </a:ext>
            </a:extLst>
          </p:cNvPr>
          <p:cNvPicPr>
            <a:picLocks noGrp="1" noChangeAspect="1"/>
          </p:cNvPicPr>
          <p:nvPr>
            <p:ph type="pic" idx="1"/>
          </p:nvPr>
        </p:nvPicPr>
        <p:blipFill>
          <a:blip r:embed="rId2"/>
          <a:srcRect l="18657" r="18657"/>
          <a:stretch/>
        </p:blipFill>
        <p:spPr>
          <a:xfrm>
            <a:off x="5164138" y="1266825"/>
            <a:ext cx="6172200" cy="4794250"/>
          </a:xfrm>
          <a:prstGeom prst="rect">
            <a:avLst/>
          </a:prstGeom>
        </p:spPr>
      </p:pic>
      <p:sp>
        <p:nvSpPr>
          <p:cNvPr id="4" name="Text Placeholder 3">
            <a:extLst>
              <a:ext uri="{FF2B5EF4-FFF2-40B4-BE49-F238E27FC236}">
                <a16:creationId xmlns:a16="http://schemas.microsoft.com/office/drawing/2014/main" id="{79AE6DF0-38EA-79F9-24E5-1BD1D43042B5}"/>
              </a:ext>
            </a:extLst>
          </p:cNvPr>
          <p:cNvSpPr>
            <a:spLocks noGrp="1"/>
          </p:cNvSpPr>
          <p:nvPr>
            <p:ph type="body" sz="half" idx="2"/>
          </p:nvPr>
        </p:nvSpPr>
        <p:spPr/>
        <p:txBody>
          <a:bodyPr/>
          <a:lstStyle/>
          <a:p>
            <a:r>
              <a:rPr lang="en-US" dirty="0"/>
              <a:t>This is the landing page of the web system. Users can log in and access the system based on their roles (Lecturer, </a:t>
            </a:r>
            <a:r>
              <a:rPr lang="en-US" dirty="0" err="1"/>
              <a:t>Programme</a:t>
            </a:r>
            <a:r>
              <a:rPr lang="en-US" dirty="0"/>
              <a:t> Coordinator, Academic Manager, HR). The navigation and access control are powered by a dictionary.</a:t>
            </a:r>
            <a:endParaRPr lang="en-ZA" dirty="0"/>
          </a:p>
        </p:txBody>
      </p:sp>
    </p:spTree>
    <p:extLst>
      <p:ext uri="{BB962C8B-B14F-4D97-AF65-F5344CB8AC3E}">
        <p14:creationId xmlns:p14="http://schemas.microsoft.com/office/powerpoint/2010/main" val="17993026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324C-7E49-23AE-BF18-18F3BCF3E31F}"/>
              </a:ext>
            </a:extLst>
          </p:cNvPr>
          <p:cNvSpPr>
            <a:spLocks noGrp="1"/>
          </p:cNvSpPr>
          <p:nvPr>
            <p:ph type="title"/>
          </p:nvPr>
        </p:nvSpPr>
        <p:spPr/>
        <p:txBody>
          <a:bodyPr/>
          <a:lstStyle/>
          <a:p>
            <a:r>
              <a:rPr lang="en-ZA" dirty="0"/>
              <a:t>Login Validation &amp; Error Handling</a:t>
            </a:r>
          </a:p>
        </p:txBody>
      </p:sp>
      <p:pic>
        <p:nvPicPr>
          <p:cNvPr id="8" name="Picture Placeholder 7">
            <a:extLst>
              <a:ext uri="{FF2B5EF4-FFF2-40B4-BE49-F238E27FC236}">
                <a16:creationId xmlns:a16="http://schemas.microsoft.com/office/drawing/2014/main" id="{95A27A96-1126-9FBC-377D-35FF7BD25FA5}"/>
              </a:ext>
            </a:extLst>
          </p:cNvPr>
          <p:cNvPicPr>
            <a:picLocks noGrp="1" noChangeAspect="1"/>
          </p:cNvPicPr>
          <p:nvPr>
            <p:ph type="pic" idx="1"/>
          </p:nvPr>
        </p:nvPicPr>
        <p:blipFill>
          <a:blip r:embed="rId2"/>
          <a:srcRect l="16867" r="16867"/>
          <a:stretch/>
        </p:blipFill>
        <p:spPr>
          <a:prstGeom prst="rect">
            <a:avLst/>
          </a:prstGeom>
        </p:spPr>
      </p:pic>
      <p:sp>
        <p:nvSpPr>
          <p:cNvPr id="4" name="Text Placeholder 3">
            <a:extLst>
              <a:ext uri="{FF2B5EF4-FFF2-40B4-BE49-F238E27FC236}">
                <a16:creationId xmlns:a16="http://schemas.microsoft.com/office/drawing/2014/main" id="{7EB80E9C-EA6B-0B2E-8A20-BE448AB35870}"/>
              </a:ext>
            </a:extLst>
          </p:cNvPr>
          <p:cNvSpPr>
            <a:spLocks noGrp="1"/>
          </p:cNvSpPr>
          <p:nvPr>
            <p:ph type="body" sz="half" idx="2"/>
          </p:nvPr>
        </p:nvSpPr>
        <p:spPr>
          <a:xfrm>
            <a:off x="704088" y="2552700"/>
            <a:ext cx="4479100" cy="4152900"/>
          </a:xfrm>
        </p:spPr>
        <p:txBody>
          <a:bodyPr/>
          <a:lstStyle/>
          <a:p>
            <a:pPr algn="ctr"/>
            <a:r>
              <a:rPr lang="en-US" dirty="0"/>
              <a:t>To make things smoother while keeping access safe, the system checks details automatically when logging in. If someone types the wrong email or uses a bad password, it spots the mistake right away - then shows a straightforward warning message</a:t>
            </a:r>
          </a:p>
          <a:p>
            <a:pPr algn="ctr"/>
            <a:r>
              <a:rPr lang="en-US" dirty="0"/>
              <a:t>“Invalid Email or Password”</a:t>
            </a:r>
            <a:endParaRPr lang="en-ZA" dirty="0"/>
          </a:p>
        </p:txBody>
      </p:sp>
    </p:spTree>
    <p:extLst>
      <p:ext uri="{BB962C8B-B14F-4D97-AF65-F5344CB8AC3E}">
        <p14:creationId xmlns:p14="http://schemas.microsoft.com/office/powerpoint/2010/main" val="1057078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9" name="Straight Connector 2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3" name="Rectangle 32">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1FEE5CF7-EE32-5CF7-F9F4-FAC4F8D7C316}"/>
              </a:ext>
            </a:extLst>
          </p:cNvPr>
          <p:cNvSpPr>
            <a:spLocks noGrp="1"/>
          </p:cNvSpPr>
          <p:nvPr>
            <p:ph type="title"/>
          </p:nvPr>
        </p:nvSpPr>
        <p:spPr>
          <a:xfrm>
            <a:off x="8652507" y="1358671"/>
            <a:ext cx="2843711" cy="1493327"/>
          </a:xfrm>
        </p:spPr>
        <p:txBody>
          <a:bodyPr vert="horz" lIns="91440" tIns="45720" rIns="91440" bIns="45720" rtlCol="0" anchor="ctr">
            <a:normAutofit/>
          </a:bodyPr>
          <a:lstStyle/>
          <a:p>
            <a:r>
              <a:rPr lang="en-US" sz="3600"/>
              <a:t>The index page</a:t>
            </a:r>
          </a:p>
        </p:txBody>
      </p:sp>
      <p:pic>
        <p:nvPicPr>
          <p:cNvPr id="6" name="Picture Placeholder 5">
            <a:extLst>
              <a:ext uri="{FF2B5EF4-FFF2-40B4-BE49-F238E27FC236}">
                <a16:creationId xmlns:a16="http://schemas.microsoft.com/office/drawing/2014/main" id="{B8354421-3C17-0BE6-D5B2-FDF4E56F108D}"/>
              </a:ext>
            </a:extLst>
          </p:cNvPr>
          <p:cNvPicPr>
            <a:picLocks noGrp="1" noChangeAspect="1"/>
          </p:cNvPicPr>
          <p:nvPr>
            <p:ph type="pic" idx="1"/>
          </p:nvPr>
        </p:nvPicPr>
        <p:blipFill>
          <a:blip r:embed="rId2"/>
          <a:srcRect l="5740" r="33760" b="-1"/>
          <a:stretch>
            <a:fillRect/>
          </a:stretch>
        </p:blipFill>
        <p:spPr>
          <a:xfrm>
            <a:off x="-1" y="10"/>
            <a:ext cx="8056345" cy="6857990"/>
          </a:xfrm>
          <a:prstGeom prst="rect">
            <a:avLst/>
          </a:prstGeom>
        </p:spPr>
      </p:pic>
      <p:cxnSp>
        <p:nvCxnSpPr>
          <p:cNvPr id="35" name="Straight Connector 34">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41170" y="1172935"/>
            <a:ext cx="2653318"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741170" y="3105667"/>
            <a:ext cx="265331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245A7813-E3DF-4DB9-58BF-9879EBA3456D}"/>
              </a:ext>
            </a:extLst>
          </p:cNvPr>
          <p:cNvSpPr>
            <a:spLocks noGrp="1"/>
          </p:cNvSpPr>
          <p:nvPr>
            <p:ph type="body" sz="half" idx="2"/>
          </p:nvPr>
        </p:nvSpPr>
        <p:spPr>
          <a:xfrm>
            <a:off x="8652509" y="3359338"/>
            <a:ext cx="2843711" cy="2862072"/>
          </a:xfrm>
        </p:spPr>
        <p:txBody>
          <a:bodyPr vert="horz" lIns="91440" tIns="45720" rIns="91440" bIns="45720" rtlCol="0">
            <a:normAutofit/>
          </a:bodyPr>
          <a:lstStyle/>
          <a:p>
            <a:pPr indent="-228600">
              <a:buFont typeface="Arial" panose="020B0604020202020204" pitchFamily="34" charset="0"/>
              <a:buChar char="•"/>
            </a:pPr>
            <a:r>
              <a:rPr lang="en-US" dirty="0"/>
              <a:t>The index page shows all the claims made, also providing all the information. You are also able to view the documents</a:t>
            </a:r>
          </a:p>
        </p:txBody>
      </p:sp>
    </p:spTree>
    <p:extLst>
      <p:ext uri="{BB962C8B-B14F-4D97-AF65-F5344CB8AC3E}">
        <p14:creationId xmlns:p14="http://schemas.microsoft.com/office/powerpoint/2010/main" val="4905052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DB1D1-A853-EEAB-54DE-40C1A82BB5E1}"/>
              </a:ext>
            </a:extLst>
          </p:cNvPr>
          <p:cNvSpPr>
            <a:spLocks noGrp="1"/>
          </p:cNvSpPr>
          <p:nvPr>
            <p:ph type="title"/>
          </p:nvPr>
        </p:nvSpPr>
        <p:spPr/>
        <p:txBody>
          <a:bodyPr/>
          <a:lstStyle/>
          <a:p>
            <a:r>
              <a:rPr lang="en-ZA" dirty="0"/>
              <a:t>Lecturer "Submit Claim" form</a:t>
            </a:r>
          </a:p>
        </p:txBody>
      </p:sp>
      <p:pic>
        <p:nvPicPr>
          <p:cNvPr id="6" name="Picture Placeholder 5">
            <a:extLst>
              <a:ext uri="{FF2B5EF4-FFF2-40B4-BE49-F238E27FC236}">
                <a16:creationId xmlns:a16="http://schemas.microsoft.com/office/drawing/2014/main" id="{5A688300-0BCD-F04A-ED03-4ED9DB9782E6}"/>
              </a:ext>
            </a:extLst>
          </p:cNvPr>
          <p:cNvPicPr>
            <a:picLocks noGrp="1" noChangeAspect="1"/>
          </p:cNvPicPr>
          <p:nvPr>
            <p:ph type="pic" idx="1"/>
          </p:nvPr>
        </p:nvPicPr>
        <p:blipFill>
          <a:blip r:embed="rId2"/>
          <a:srcRect l="17009" r="17009"/>
          <a:stretch/>
        </p:blipFill>
        <p:spPr>
          <a:prstGeom prst="rect">
            <a:avLst/>
          </a:prstGeom>
        </p:spPr>
      </p:pic>
      <p:sp>
        <p:nvSpPr>
          <p:cNvPr id="4" name="Text Placeholder 3">
            <a:extLst>
              <a:ext uri="{FF2B5EF4-FFF2-40B4-BE49-F238E27FC236}">
                <a16:creationId xmlns:a16="http://schemas.microsoft.com/office/drawing/2014/main" id="{F671F9BE-6EDE-1CE6-269B-8020D1E7B8BE}"/>
              </a:ext>
            </a:extLst>
          </p:cNvPr>
          <p:cNvSpPr>
            <a:spLocks noGrp="1"/>
          </p:cNvSpPr>
          <p:nvPr>
            <p:ph type="body" sz="half" idx="2"/>
          </p:nvPr>
        </p:nvSpPr>
        <p:spPr/>
        <p:txBody>
          <a:bodyPr/>
          <a:lstStyle/>
          <a:p>
            <a:r>
              <a:rPr lang="en-US" dirty="0"/>
              <a:t>Lecturers can submit claims by entering their hours worked, hourly rate, and any supporting notes.</a:t>
            </a:r>
            <a:br>
              <a:rPr lang="en-US" dirty="0"/>
            </a:br>
            <a:r>
              <a:rPr lang="en-US" dirty="0"/>
              <a:t>This form uses </a:t>
            </a:r>
            <a:r>
              <a:rPr lang="en-US" b="1" dirty="0"/>
              <a:t>MVC model binding</a:t>
            </a:r>
            <a:r>
              <a:rPr lang="en-US" dirty="0"/>
              <a:t> and </a:t>
            </a:r>
            <a:r>
              <a:rPr lang="en-US" b="1" dirty="0"/>
              <a:t>Entity Framework</a:t>
            </a:r>
            <a:r>
              <a:rPr lang="en-US" dirty="0"/>
              <a:t> to store claims in the database.</a:t>
            </a:r>
            <a:endParaRPr lang="en-ZA" dirty="0"/>
          </a:p>
        </p:txBody>
      </p:sp>
    </p:spTree>
    <p:extLst>
      <p:ext uri="{BB962C8B-B14F-4D97-AF65-F5344CB8AC3E}">
        <p14:creationId xmlns:p14="http://schemas.microsoft.com/office/powerpoint/2010/main" val="3495321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ECB2A-0C19-01D9-3E7A-5B3872ED95F2}"/>
              </a:ext>
            </a:extLst>
          </p:cNvPr>
          <p:cNvSpPr>
            <a:spLocks noGrp="1"/>
          </p:cNvSpPr>
          <p:nvPr>
            <p:ph type="title"/>
          </p:nvPr>
        </p:nvSpPr>
        <p:spPr/>
        <p:txBody>
          <a:bodyPr/>
          <a:lstStyle/>
          <a:p>
            <a:r>
              <a:rPr lang="en-US" dirty="0"/>
              <a:t>Claims Validation</a:t>
            </a:r>
            <a:endParaRPr lang="en-ZA" dirty="0"/>
          </a:p>
        </p:txBody>
      </p:sp>
      <p:pic>
        <p:nvPicPr>
          <p:cNvPr id="6" name="Picture Placeholder 5">
            <a:extLst>
              <a:ext uri="{FF2B5EF4-FFF2-40B4-BE49-F238E27FC236}">
                <a16:creationId xmlns:a16="http://schemas.microsoft.com/office/drawing/2014/main" id="{3A351696-A239-37E7-25CB-34FA1FDF2EF2}"/>
              </a:ext>
            </a:extLst>
          </p:cNvPr>
          <p:cNvPicPr>
            <a:picLocks noGrp="1" noChangeAspect="1"/>
          </p:cNvPicPr>
          <p:nvPr>
            <p:ph type="pic" idx="1"/>
          </p:nvPr>
        </p:nvPicPr>
        <p:blipFill>
          <a:blip r:embed="rId2"/>
          <a:srcRect l="16991" r="16991"/>
          <a:stretch/>
        </p:blipFill>
        <p:spPr>
          <a:xfrm>
            <a:off x="5221288" y="1066800"/>
            <a:ext cx="6172200" cy="4794250"/>
          </a:xfrm>
          <a:prstGeom prst="rect">
            <a:avLst/>
          </a:prstGeom>
        </p:spPr>
      </p:pic>
      <p:sp>
        <p:nvSpPr>
          <p:cNvPr id="4" name="Text Placeholder 3">
            <a:extLst>
              <a:ext uri="{FF2B5EF4-FFF2-40B4-BE49-F238E27FC236}">
                <a16:creationId xmlns:a16="http://schemas.microsoft.com/office/drawing/2014/main" id="{49D250FE-077C-C44F-2075-E8CC5BFAA509}"/>
              </a:ext>
            </a:extLst>
          </p:cNvPr>
          <p:cNvSpPr>
            <a:spLocks noGrp="1"/>
          </p:cNvSpPr>
          <p:nvPr>
            <p:ph type="body" sz="half" idx="2"/>
          </p:nvPr>
        </p:nvSpPr>
        <p:spPr/>
        <p:txBody>
          <a:bodyPr/>
          <a:lstStyle/>
          <a:p>
            <a:r>
              <a:rPr lang="en-US" dirty="0"/>
              <a:t>Validation has been implemented to ensure that all entered information is accurate and does not break the system. This helps maintain clean, consistent, and reliable records throughout the application.</a:t>
            </a:r>
            <a:endParaRPr lang="en-ZA" dirty="0"/>
          </a:p>
        </p:txBody>
      </p:sp>
    </p:spTree>
    <p:extLst>
      <p:ext uri="{BB962C8B-B14F-4D97-AF65-F5344CB8AC3E}">
        <p14:creationId xmlns:p14="http://schemas.microsoft.com/office/powerpoint/2010/main" val="38320100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5" name="Rectangle 14">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C5F256-83BF-0AE2-F6E8-5072DB321EDF}"/>
              </a:ext>
            </a:extLst>
          </p:cNvPr>
          <p:cNvSpPr>
            <a:spLocks noGrp="1"/>
          </p:cNvSpPr>
          <p:nvPr>
            <p:ph type="title"/>
          </p:nvPr>
        </p:nvSpPr>
        <p:spPr>
          <a:xfrm>
            <a:off x="704088" y="4023657"/>
            <a:ext cx="3794760" cy="2110444"/>
          </a:xfrm>
        </p:spPr>
        <p:txBody>
          <a:bodyPr vert="horz" lIns="91440" tIns="45720" rIns="91440" bIns="45720" rtlCol="0" anchor="t">
            <a:normAutofit/>
          </a:bodyPr>
          <a:lstStyle/>
          <a:p>
            <a:r>
              <a:rPr lang="en-ZA" sz="4000" dirty="0"/>
              <a:t>Automation: Auto-Calculation</a:t>
            </a:r>
            <a:endParaRPr lang="en-US" sz="4000" dirty="0"/>
          </a:p>
        </p:txBody>
      </p:sp>
      <p:pic>
        <p:nvPicPr>
          <p:cNvPr id="6" name="Picture 5">
            <a:extLst>
              <a:ext uri="{FF2B5EF4-FFF2-40B4-BE49-F238E27FC236}">
                <a16:creationId xmlns:a16="http://schemas.microsoft.com/office/drawing/2014/main" id="{746EF49F-F1E6-759D-6768-15F6B115E5E3}"/>
              </a:ext>
            </a:extLst>
          </p:cNvPr>
          <p:cNvPicPr>
            <a:picLocks noChangeAspect="1"/>
          </p:cNvPicPr>
          <p:nvPr/>
        </p:nvPicPr>
        <p:blipFill>
          <a:blip r:embed="rId2"/>
          <a:srcRect t="10471" r="2" b="14339"/>
          <a:stretch>
            <a:fillRect/>
          </a:stretch>
        </p:blipFill>
        <p:spPr>
          <a:xfrm>
            <a:off x="848490" y="501303"/>
            <a:ext cx="10591800" cy="3086100"/>
          </a:xfrm>
          <a:prstGeom prst="rect">
            <a:avLst/>
          </a:prstGeom>
        </p:spPr>
      </p:pic>
      <p:cxnSp>
        <p:nvCxnSpPr>
          <p:cNvPr id="17" name="Straight Connector 16">
            <a:extLst>
              <a:ext uri="{FF2B5EF4-FFF2-40B4-BE49-F238E27FC236}">
                <a16:creationId xmlns:a16="http://schemas.microsoft.com/office/drawing/2014/main" id="{8E0104E4-99BC-494F-8342-F250828E574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876800" y="4114590"/>
            <a:ext cx="9818" cy="201951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05D18C26-A972-99B8-814A-A6CCBC84E8A2}"/>
              </a:ext>
            </a:extLst>
          </p:cNvPr>
          <p:cNvSpPr>
            <a:spLocks noGrp="1"/>
          </p:cNvSpPr>
          <p:nvPr>
            <p:ph type="body" sz="half" idx="2"/>
          </p:nvPr>
        </p:nvSpPr>
        <p:spPr>
          <a:xfrm>
            <a:off x="4978400" y="3810000"/>
            <a:ext cx="6508457" cy="2806699"/>
          </a:xfrm>
        </p:spPr>
        <p:txBody>
          <a:bodyPr vert="horz" lIns="91440" tIns="45720" rIns="91440" bIns="45720" rtlCol="0">
            <a:normAutofit fontScale="92500"/>
          </a:bodyPr>
          <a:lstStyle/>
          <a:p>
            <a:pPr>
              <a:buNone/>
            </a:pPr>
            <a:r>
              <a:rPr lang="en-US" dirty="0"/>
              <a:t>To streamline the claim submission process and reduce human error, automation is implemented using JavaScript (jQuery). When the lecturer enters their </a:t>
            </a:r>
            <a:r>
              <a:rPr lang="en-US" i="1" dirty="0"/>
              <a:t>Hours Worked</a:t>
            </a:r>
            <a:r>
              <a:rPr lang="en-US" dirty="0"/>
              <a:t> and </a:t>
            </a:r>
            <a:r>
              <a:rPr lang="en-US" i="1" dirty="0"/>
              <a:t>Hourly Rate</a:t>
            </a:r>
            <a:r>
              <a:rPr lang="en-US" dirty="0"/>
              <a:t>, the system automatically calculates the total amount payable using the formula:</a:t>
            </a:r>
          </a:p>
          <a:p>
            <a:pPr>
              <a:buNone/>
            </a:pPr>
            <a:r>
              <a:rPr lang="en-US" b="1" dirty="0"/>
              <a:t>Amount = Hours Worked × Hourly Rate</a:t>
            </a:r>
            <a:endParaRPr lang="en-US" dirty="0"/>
          </a:p>
          <a:p>
            <a:pPr>
              <a:buNone/>
            </a:pPr>
            <a:r>
              <a:rPr lang="en-US" dirty="0"/>
              <a:t>This removes the need for manual calculations, making the process faster, more accurate, and more user-friendly.</a:t>
            </a:r>
          </a:p>
          <a:p>
            <a:pPr>
              <a:buNone/>
            </a:pPr>
            <a:r>
              <a:rPr lang="en-US" dirty="0"/>
              <a:t>A demonstration of this automation is shown in </a:t>
            </a:r>
            <a:r>
              <a:rPr lang="en-US" b="1" dirty="0"/>
              <a:t>Slide 4</a:t>
            </a:r>
            <a:r>
              <a:rPr lang="en-US" dirty="0"/>
              <a:t>, where the Claims Index page displays the correctly calculated amounts generated by the system.</a:t>
            </a:r>
          </a:p>
        </p:txBody>
      </p:sp>
    </p:spTree>
    <p:extLst>
      <p:ext uri="{BB962C8B-B14F-4D97-AF65-F5344CB8AC3E}">
        <p14:creationId xmlns:p14="http://schemas.microsoft.com/office/powerpoint/2010/main" val="2176691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5" name="Straight Connector 34">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39" name="Rectangle 3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2FB7C0A-6715-6639-5B01-1E22C28A54EB}"/>
              </a:ext>
            </a:extLst>
          </p:cNvPr>
          <p:cNvSpPr>
            <a:spLocks noGrp="1"/>
          </p:cNvSpPr>
          <p:nvPr>
            <p:ph type="title"/>
          </p:nvPr>
        </p:nvSpPr>
        <p:spPr>
          <a:xfrm>
            <a:off x="703400" y="4702835"/>
            <a:ext cx="10801350" cy="978772"/>
          </a:xfrm>
        </p:spPr>
        <p:txBody>
          <a:bodyPr vert="horz" lIns="91440" tIns="45720" rIns="91440" bIns="45720" rtlCol="0" anchor="t">
            <a:normAutofit/>
          </a:bodyPr>
          <a:lstStyle/>
          <a:p>
            <a:pPr>
              <a:lnSpc>
                <a:spcPct val="90000"/>
              </a:lnSpc>
            </a:pPr>
            <a:r>
              <a:rPr lang="en-US" sz="3000" dirty="0"/>
              <a:t>The </a:t>
            </a:r>
            <a:r>
              <a:rPr lang="en-US" sz="3000" dirty="0" err="1"/>
              <a:t>Programme</a:t>
            </a:r>
            <a:r>
              <a:rPr lang="en-US" sz="3000" dirty="0"/>
              <a:t> Coordinator and Academic manager view</a:t>
            </a:r>
          </a:p>
        </p:txBody>
      </p:sp>
      <p:sp>
        <p:nvSpPr>
          <p:cNvPr id="4" name="Text Placeholder 3">
            <a:extLst>
              <a:ext uri="{FF2B5EF4-FFF2-40B4-BE49-F238E27FC236}">
                <a16:creationId xmlns:a16="http://schemas.microsoft.com/office/drawing/2014/main" id="{7F94C6E9-434A-D1CC-287F-9B12889366CE}"/>
              </a:ext>
            </a:extLst>
          </p:cNvPr>
          <p:cNvSpPr>
            <a:spLocks noGrp="1"/>
          </p:cNvSpPr>
          <p:nvPr>
            <p:ph type="body" sz="half" idx="2"/>
          </p:nvPr>
        </p:nvSpPr>
        <p:spPr>
          <a:xfrm>
            <a:off x="800100" y="5499788"/>
            <a:ext cx="10172700" cy="1269311"/>
          </a:xfrm>
        </p:spPr>
        <p:txBody>
          <a:bodyPr vert="horz" lIns="91440" tIns="45720" rIns="91440" bIns="45720" rtlCol="0" anchor="t">
            <a:normAutofit lnSpcReduction="10000"/>
          </a:bodyPr>
          <a:lstStyle/>
          <a:p>
            <a:r>
              <a:rPr lang="en-US" sz="1800" dirty="0"/>
              <a:t>The </a:t>
            </a:r>
            <a:r>
              <a:rPr lang="en-US" sz="1800" dirty="0" err="1"/>
              <a:t>Programme</a:t>
            </a:r>
            <a:r>
              <a:rPr lang="en-US" sz="1800" dirty="0"/>
              <a:t> Coordinator and Academic Manager interfaces share a similar layout and workflow to the Lecturer view; however, they include additional administrative functions designed to support the verification and approval process. In this view, both the PC and AM are able to </a:t>
            </a:r>
            <a:r>
              <a:rPr lang="en-US" sz="1800" b="1" dirty="0"/>
              <a:t>review submitted claims</a:t>
            </a:r>
            <a:r>
              <a:rPr lang="en-US" sz="1800" dirty="0"/>
              <a:t>, </a:t>
            </a:r>
            <a:r>
              <a:rPr lang="en-US" sz="1800" b="1" dirty="0"/>
              <a:t>approve or reject claims</a:t>
            </a:r>
            <a:r>
              <a:rPr lang="en-US" sz="1800" dirty="0"/>
              <a:t>, and maintain oversight of lecturer activities.</a:t>
            </a:r>
          </a:p>
        </p:txBody>
      </p:sp>
      <p:cxnSp>
        <p:nvCxnSpPr>
          <p:cNvPr id="41" name="Straight Connector 4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455508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8" name="Picture Placeholder 7">
            <a:extLst>
              <a:ext uri="{FF2B5EF4-FFF2-40B4-BE49-F238E27FC236}">
                <a16:creationId xmlns:a16="http://schemas.microsoft.com/office/drawing/2014/main" id="{AA63AFB3-D5C9-DEC8-B7AE-691204016B9F}"/>
              </a:ext>
            </a:extLst>
          </p:cNvPr>
          <p:cNvPicPr>
            <a:picLocks noGrp="1" noChangeAspect="1"/>
          </p:cNvPicPr>
          <p:nvPr>
            <p:ph type="pic" idx="1"/>
          </p:nvPr>
        </p:nvPicPr>
        <p:blipFill>
          <a:blip r:embed="rId2"/>
          <a:srcRect r="2" b="28874"/>
          <a:stretch>
            <a:fillRect/>
          </a:stretch>
        </p:blipFill>
        <p:spPr>
          <a:xfrm>
            <a:off x="800100" y="712915"/>
            <a:ext cx="10591800" cy="3842162"/>
          </a:xfrm>
          <a:prstGeom prst="rect">
            <a:avLst/>
          </a:prstGeom>
        </p:spPr>
      </p:pic>
    </p:spTree>
    <p:extLst>
      <p:ext uri="{BB962C8B-B14F-4D97-AF65-F5344CB8AC3E}">
        <p14:creationId xmlns:p14="http://schemas.microsoft.com/office/powerpoint/2010/main" val="409692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C95D9-F1CD-3E2C-FB7D-C8D4D390F5AE}"/>
              </a:ext>
            </a:extLst>
          </p:cNvPr>
          <p:cNvSpPr>
            <a:spLocks noGrp="1"/>
          </p:cNvSpPr>
          <p:nvPr>
            <p:ph type="title"/>
          </p:nvPr>
        </p:nvSpPr>
        <p:spPr/>
        <p:txBody>
          <a:bodyPr>
            <a:normAutofit fontScale="90000"/>
          </a:bodyPr>
          <a:lstStyle/>
          <a:p>
            <a:r>
              <a:rPr lang="en-US" dirty="0"/>
              <a:t>High-Value Claim Alert – Ensuring Accuracy &amp; Security</a:t>
            </a:r>
            <a:endParaRPr lang="en-ZA" dirty="0"/>
          </a:p>
        </p:txBody>
      </p:sp>
      <p:pic>
        <p:nvPicPr>
          <p:cNvPr id="6" name="Picture Placeholder 5">
            <a:extLst>
              <a:ext uri="{FF2B5EF4-FFF2-40B4-BE49-F238E27FC236}">
                <a16:creationId xmlns:a16="http://schemas.microsoft.com/office/drawing/2014/main" id="{D251AF5E-DBC8-F084-8BED-BD757AEF065E}"/>
              </a:ext>
            </a:extLst>
          </p:cNvPr>
          <p:cNvPicPr>
            <a:picLocks noGrp="1" noChangeAspect="1"/>
          </p:cNvPicPr>
          <p:nvPr>
            <p:ph type="pic" idx="1"/>
          </p:nvPr>
        </p:nvPicPr>
        <p:blipFill>
          <a:blip r:embed="rId2"/>
          <a:srcRect l="18948" r="18948"/>
          <a:stretch/>
        </p:blipFill>
        <p:spPr>
          <a:prstGeom prst="rect">
            <a:avLst/>
          </a:prstGeom>
        </p:spPr>
      </p:pic>
      <p:sp>
        <p:nvSpPr>
          <p:cNvPr id="4" name="Text Placeholder 3">
            <a:extLst>
              <a:ext uri="{FF2B5EF4-FFF2-40B4-BE49-F238E27FC236}">
                <a16:creationId xmlns:a16="http://schemas.microsoft.com/office/drawing/2014/main" id="{0CD29923-BF91-E54F-3B2B-B7EC906A22B9}"/>
              </a:ext>
            </a:extLst>
          </p:cNvPr>
          <p:cNvSpPr>
            <a:spLocks noGrp="1"/>
          </p:cNvSpPr>
          <p:nvPr>
            <p:ph type="body" sz="half" idx="2"/>
          </p:nvPr>
        </p:nvSpPr>
        <p:spPr/>
        <p:txBody>
          <a:bodyPr/>
          <a:lstStyle/>
          <a:p>
            <a:r>
              <a:rPr lang="en-US" dirty="0"/>
              <a:t>This alert appears when a claim has an unusually high number of hours or amount. It ensures accuracy by prompting manual review, prevents potential errors or overpayments, and safeguards against accidental or fraudulent claims. By flagging such claims, the system helps maintain reliable and trustworthy claim processing.</a:t>
            </a:r>
            <a:endParaRPr lang="en-ZA" dirty="0"/>
          </a:p>
        </p:txBody>
      </p:sp>
    </p:spTree>
    <p:extLst>
      <p:ext uri="{BB962C8B-B14F-4D97-AF65-F5344CB8AC3E}">
        <p14:creationId xmlns:p14="http://schemas.microsoft.com/office/powerpoint/2010/main" val="11640856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5BCA9A-43E7-FD46-4D2D-E14830091400}"/>
              </a:ext>
            </a:extLst>
          </p:cNvPr>
          <p:cNvSpPr>
            <a:spLocks noGrp="1"/>
          </p:cNvSpPr>
          <p:nvPr>
            <p:ph type="title"/>
          </p:nvPr>
        </p:nvSpPr>
        <p:spPr>
          <a:xfrm>
            <a:off x="703400" y="4702835"/>
            <a:ext cx="10801350" cy="978772"/>
          </a:xfrm>
        </p:spPr>
        <p:txBody>
          <a:bodyPr vert="horz" lIns="91440" tIns="45720" rIns="91440" bIns="45720" rtlCol="0" anchor="t">
            <a:normAutofit/>
          </a:bodyPr>
          <a:lstStyle/>
          <a:p>
            <a:r>
              <a:rPr lang="en-US" sz="5400" dirty="0"/>
              <a:t>Approved claims report</a:t>
            </a:r>
          </a:p>
        </p:txBody>
      </p:sp>
      <p:cxnSp>
        <p:nvCxnSpPr>
          <p:cNvPr id="15" name="Straight Connector 14">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455508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0988E09B-45A2-4B13-E8CF-D34BB43EDDBC}"/>
              </a:ext>
            </a:extLst>
          </p:cNvPr>
          <p:cNvPicPr>
            <a:picLocks noChangeAspect="1"/>
          </p:cNvPicPr>
          <p:nvPr/>
        </p:nvPicPr>
        <p:blipFill>
          <a:blip r:embed="rId2"/>
          <a:srcRect r="2" b="24820"/>
          <a:stretch>
            <a:fillRect/>
          </a:stretch>
        </p:blipFill>
        <p:spPr>
          <a:xfrm>
            <a:off x="800100" y="712915"/>
            <a:ext cx="10591800" cy="3842162"/>
          </a:xfrm>
          <a:prstGeom prst="rect">
            <a:avLst/>
          </a:prstGeom>
        </p:spPr>
      </p:pic>
    </p:spTree>
    <p:extLst>
      <p:ext uri="{BB962C8B-B14F-4D97-AF65-F5344CB8AC3E}">
        <p14:creationId xmlns:p14="http://schemas.microsoft.com/office/powerpoint/2010/main" val="4284623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0B04A-ADC3-5B28-282B-18F190E12CDA}"/>
              </a:ext>
            </a:extLst>
          </p:cNvPr>
          <p:cNvSpPr>
            <a:spLocks noGrp="1"/>
          </p:cNvSpPr>
          <p:nvPr>
            <p:ph type="title"/>
          </p:nvPr>
        </p:nvSpPr>
        <p:spPr/>
        <p:txBody>
          <a:bodyPr/>
          <a:lstStyle/>
          <a:p>
            <a:r>
              <a:rPr lang="en-ZA" dirty="0"/>
              <a:t>Lecturer Data Management</a:t>
            </a:r>
          </a:p>
        </p:txBody>
      </p:sp>
      <p:pic>
        <p:nvPicPr>
          <p:cNvPr id="6" name="Content Placeholder 5">
            <a:extLst>
              <a:ext uri="{FF2B5EF4-FFF2-40B4-BE49-F238E27FC236}">
                <a16:creationId xmlns:a16="http://schemas.microsoft.com/office/drawing/2014/main" id="{E2117E3A-E2E6-A223-77E5-8C1526507B31}"/>
              </a:ext>
            </a:extLst>
          </p:cNvPr>
          <p:cNvPicPr>
            <a:picLocks noGrp="1" noChangeAspect="1"/>
          </p:cNvPicPr>
          <p:nvPr>
            <p:ph idx="1"/>
          </p:nvPr>
        </p:nvPicPr>
        <p:blipFill>
          <a:blip r:embed="rId2"/>
          <a:stretch>
            <a:fillRect/>
          </a:stretch>
        </p:blipFill>
        <p:spPr>
          <a:xfrm>
            <a:off x="5183188" y="1887075"/>
            <a:ext cx="6172200" cy="3156874"/>
          </a:xfrm>
          <a:prstGeom prst="rect">
            <a:avLst/>
          </a:prstGeom>
        </p:spPr>
      </p:pic>
      <p:sp>
        <p:nvSpPr>
          <p:cNvPr id="4" name="Text Placeholder 3">
            <a:extLst>
              <a:ext uri="{FF2B5EF4-FFF2-40B4-BE49-F238E27FC236}">
                <a16:creationId xmlns:a16="http://schemas.microsoft.com/office/drawing/2014/main" id="{7DD85B61-724D-54E6-A572-CB3D5186B927}"/>
              </a:ext>
            </a:extLst>
          </p:cNvPr>
          <p:cNvSpPr>
            <a:spLocks noGrp="1"/>
          </p:cNvSpPr>
          <p:nvPr>
            <p:ph type="body" sz="half" idx="2"/>
          </p:nvPr>
        </p:nvSpPr>
        <p:spPr/>
        <p:txBody>
          <a:bodyPr/>
          <a:lstStyle/>
          <a:p>
            <a:r>
              <a:rPr lang="en-US" dirty="0"/>
              <a:t>The system allows HR staff to efficiently manage lecturer information, including updating personal details, contact information, and employment data. By automating these administrative tasks, the platform reduces manual effort, ensures data accuracy, and streamlines overall HR processes.</a:t>
            </a:r>
            <a:endParaRPr lang="en-ZA" dirty="0"/>
          </a:p>
        </p:txBody>
      </p:sp>
    </p:spTree>
    <p:extLst>
      <p:ext uri="{BB962C8B-B14F-4D97-AF65-F5344CB8AC3E}">
        <p14:creationId xmlns:p14="http://schemas.microsoft.com/office/powerpoint/2010/main" val="1834227741"/>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TotalTime>
  <Words>502</Words>
  <Application>Microsoft Office PowerPoint</Application>
  <PresentationFormat>Widescreen</PresentationFormat>
  <Paragraphs>28</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Calisto MT</vt:lpstr>
      <vt:lpstr>Univers Condensed</vt:lpstr>
      <vt:lpstr>ChronicleVTI</vt:lpstr>
      <vt:lpstr>Cloud Development POE </vt:lpstr>
      <vt:lpstr>The landing page</vt:lpstr>
      <vt:lpstr>Login Validation &amp; Error Handling</vt:lpstr>
      <vt:lpstr>The index page</vt:lpstr>
      <vt:lpstr>Lecturer "Submit Claim" form</vt:lpstr>
      <vt:lpstr>Claims Validation</vt:lpstr>
      <vt:lpstr>Automation: Auto-Calculation</vt:lpstr>
      <vt:lpstr>The Programme Coordinator and Academic manager view</vt:lpstr>
      <vt:lpstr>High-Value Claim Alert – Ensuring Accuracy &amp; Security</vt:lpstr>
      <vt:lpstr>Approved claims report</vt:lpstr>
      <vt:lpstr>Lecturer Data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Rocston John Oppelt</dc:creator>
  <cp:lastModifiedBy>Rocston John Oppelt</cp:lastModifiedBy>
  <cp:revision>1</cp:revision>
  <dcterms:created xsi:type="dcterms:W3CDTF">2025-11-21T18:17:28Z</dcterms:created>
  <dcterms:modified xsi:type="dcterms:W3CDTF">2025-11-21T19:31:26Z</dcterms:modified>
</cp:coreProperties>
</file>